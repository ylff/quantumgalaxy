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79" r:id="rId6"/>
    <p:sldId id="259" r:id="rId7"/>
    <p:sldId id="27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1" autoAdjust="0"/>
    <p:restoredTop sz="94771"/>
  </p:normalViewPr>
  <p:slideViewPr>
    <p:cSldViewPr snapToGrid="0">
      <p:cViewPr varScale="1">
        <p:scale>
          <a:sx n="100" d="100"/>
          <a:sy n="100" d="100"/>
        </p:scale>
        <p:origin x="17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7A80C-D1BD-F989-8C8C-6728E945D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60DD3E-A434-DF28-C4D1-97E5ABF03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AB273-908F-B2A6-20B9-1F9D41F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B72EA-477B-F323-5534-F5D7E97E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F4F2C-A265-6FF0-51AF-BD58BFDC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68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9322C-3A0B-28EB-933D-A80C7B97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A4E39-698D-192F-DDFD-D724100F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BC4B0-7303-D1C6-E4CC-F5BA3F0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A572F-AD41-61E3-17E2-58A2A81B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D2072-B4A3-7913-41DC-A5A5A886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2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F3463-F377-2FEA-E40D-35A5362C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14B78-2F31-46D9-7ADB-6FD8D37AE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8C6BE-86EB-F719-6480-02FD0CDF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E27C7-35FD-12CD-CCD6-1861C592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12066-3E52-FEDC-CC33-68C231DC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9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DAF4C-2969-78B9-CE89-ED1319D4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72251-0119-D4D8-7F9B-CDF404653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1505C-5BC6-C3EF-6152-A2B2CBAFB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18F965-ABBF-D1ED-6374-627BCE32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9543B-20F0-53DA-6A7E-77DC4AD8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53EAA-FE47-367F-F56F-817792FE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27FBC-1E03-9ADC-A14C-2B8BC156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08D90-4B8E-1815-4A4B-57AF6FD2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62310F-6D5B-4E71-5CDC-2C82B5DBC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70E15-F066-7FD0-AA87-DD06F69FF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1D76AA-1518-E8CB-5D1E-454C520F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9B935C-57F8-8443-3416-5A10FCA2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AC690A-8F2C-3455-A410-3B857D43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7DBCA-329F-3689-A0A2-BF0D9825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6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6EF73-532C-68B1-EF59-66681F6D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A96EE5-C4D5-C440-7ED7-C6C348CE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C1FD38-76D5-7553-1899-AE43E96B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DFB177-A3DC-AE84-E25B-57E549F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87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AA8844-C2C1-C7F5-2093-295CBD52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2F3D98-EDC9-8D89-3E16-CFD28F7D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CEEFF-BE24-26EE-786D-1B30F037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D7F4B-20B0-6CA8-CE84-30DCD77F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190F9-DA4E-FA57-55BD-0E57236E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CDC4C-0375-CC39-D31A-E03E5FA9F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2D55F9-B008-391E-68A4-6E51F1EC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FF3F6A-D2A1-E1E8-292A-1B5EA04F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F29B9-712E-92EC-8A9A-ACB26BEF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80868-AFDC-D8C1-E8F6-FBE9ECF1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9E8788-8C4A-EC85-CE31-51C68477A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972EB-633A-6FE2-A2C5-F65BD084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417B2-BDFE-7389-BC3E-5A33881A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6122DC-620D-AC4F-F87E-E1419962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7495E-928E-280B-C7B2-04272683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7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5A257-DDD0-4276-871C-DCCE771C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81F0D6-A241-3B32-3A79-9CDF7DD88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5C305-5B87-0285-F217-D701BBDA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68C33-D68E-678F-DA7B-92FE2816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8F9FA-31EF-81E1-E0E8-2BBFD664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69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DCF9DE-3DFD-A82C-BEE2-DA7434511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F4628-6A9D-445B-758B-3A9D682F8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25B60-4E1F-1302-8A93-9D57ADDD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72B1B-D6B3-971C-5925-2CA7ADF1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1D8CC-CF0A-DD7A-46EA-F44502D3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75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6B58C3-238A-B603-9B0B-859552D4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F44237-A4E9-DA6B-8A1B-93352F46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494AF-91DD-1F3C-AE36-07C3D362D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E6C9E-8012-BD2D-3F2F-AD3A88C5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3BF9D-08B9-C715-41E3-1279105D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1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08EA6-37D7-3772-7679-03B13FB9A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788459"/>
            <a:ext cx="10972800" cy="2387600"/>
          </a:xfrm>
        </p:spPr>
        <p:txBody>
          <a:bodyPr>
            <a:noAutofit/>
          </a:bodyPr>
          <a:lstStyle/>
          <a:p>
            <a:r>
              <a:t>600123.SH-兰花科创</a:t>
            </a:r>
            <a:endParaRPr lang="zh-CN" altLang="en-US" sz="80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5547934-506E-59CC-1EF7-5C2B67A3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555"/>
            <a:ext cx="9144000" cy="1655762"/>
          </a:xfrm>
        </p:spPr>
        <p:txBody>
          <a:bodyPr/>
          <a:lstStyle/>
          <a:p>
            <a:pPr algn="r"/>
            <a:r>
              <a:t>ppt xiaodi</a:t>
            </a:r>
          </a:p>
          <a:p>
            <a:pPr algn="r"/>
            <a:r>
              <a:t>2022-07-28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24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869C9-3CB6-6D59-D733-D1084964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92396"/>
            <a:ext cx="10515600" cy="1325563"/>
          </a:xfrm>
        </p:spPr>
        <p:txBody>
          <a:bodyPr/>
          <a:lstStyle/>
          <a:p>
            <a:r>
              <a:rPr lang="zh-CN" altLang="en-US" sz="8000" b="1" dirty="0"/>
              <a:t>目录</a:t>
            </a:r>
            <a:r>
              <a:rPr lang="zh-CN" altLang="en-US" dirty="0"/>
              <a:t>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BCBB0-BA1F-A276-BBCF-A1F4685F1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96471"/>
            <a:ext cx="6387353" cy="3051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  <a:ea typeface="+mj-ea"/>
              </a:rPr>
              <a:t>    公司介绍</a:t>
            </a:r>
            <a:endParaRPr lang="en-US" altLang="zh-CN" sz="3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中观行业介绍</a:t>
            </a:r>
            <a:endParaRPr lang="en-US" altLang="zh-CN" sz="36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财务与发展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370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25F04-D13F-DC9D-AA9B-C07F8CC8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930" y="427878"/>
            <a:ext cx="10515600" cy="1325563"/>
          </a:xfrm>
        </p:spPr>
        <p:txBody>
          <a:bodyPr/>
          <a:lstStyle/>
          <a:p>
            <a:r>
              <a:rPr lang="en-US" altLang="zh-CN" sz="8000" b="1" dirty="0"/>
              <a:t>PartⅠ </a:t>
            </a:r>
            <a:r>
              <a:rPr lang="zh-CN" altLang="en-US" dirty="0"/>
              <a:t>公司介绍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9A9D7-44B8-3E0A-B2AF-70703F01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742" y="1935347"/>
            <a:ext cx="10515600" cy="513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1.1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公司简介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1.2</a:t>
            </a:r>
            <a:r>
              <a:rPr lang="zh-CN" altLang="en-US" dirty="0">
                <a:latin typeface="+mj-ea"/>
                <a:ea typeface="+mj-ea"/>
              </a:rPr>
              <a:t> 产业链梳理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1.3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产品概览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1.4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公司产品详情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latin typeface="+mj-ea"/>
                <a:ea typeface="+mj-ea"/>
              </a:rPr>
              <a:t>      </a:t>
            </a:r>
            <a:r>
              <a:rPr lang="en-US" altLang="zh-CN" sz="2400" dirty="0">
                <a:latin typeface="+mj-ea"/>
                <a:ea typeface="+mj-ea"/>
              </a:rPr>
              <a:t>1.4.1 </a:t>
            </a:r>
            <a:r>
              <a:rPr lang="zh-CN" altLang="en-US" sz="2400" dirty="0">
                <a:latin typeface="+mj-ea"/>
                <a:ea typeface="+mj-ea"/>
              </a:rPr>
              <a:t>历史经营数据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1.4.2 </a:t>
            </a:r>
            <a:r>
              <a:rPr lang="zh-CN" altLang="en-US" sz="2400" dirty="0">
                <a:latin typeface="+mj-ea"/>
                <a:ea typeface="+mj-ea"/>
              </a:rPr>
              <a:t>产能及扩产难度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1.4.3 </a:t>
            </a:r>
            <a:r>
              <a:rPr lang="zh-CN" altLang="en-US" sz="2400" dirty="0">
                <a:latin typeface="+mj-ea"/>
                <a:ea typeface="+mj-ea"/>
              </a:rPr>
              <a:t>生产区域与销售区域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1.4.4 </a:t>
            </a:r>
            <a:r>
              <a:rPr lang="zh-CN" altLang="en-US" sz="2400" dirty="0">
                <a:latin typeface="+mj-ea"/>
                <a:ea typeface="+mj-ea"/>
              </a:rPr>
              <a:t>原材料情况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1.4 5 </a:t>
            </a:r>
            <a:r>
              <a:rPr lang="zh-CN" altLang="en-US" sz="2400" dirty="0">
                <a:latin typeface="+mj-ea"/>
                <a:ea typeface="+mj-ea"/>
              </a:rPr>
              <a:t>产品价格及议价权分析</a:t>
            </a:r>
            <a:endParaRPr lang="en-US" altLang="zh-CN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1799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47" y="28444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FCC70E8-2B0C-B5FB-DD8B-4DE0A4E0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47" y="1691154"/>
            <a:ext cx="11326906" cy="43958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t>兰花科创是一家以炼焦煤（无烟煤）的开采、销售为主，尿素，二甲醚等化肥，化工产品为辅的综合公司。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所属产业链：煤炭</a:t>
            </a:r>
            <a:endParaRPr lang="zh-CN" altLang="en-US" dirty="0">
              <a:effectLst/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上游原材料：甲醇/纯苯/液氨/液氮/二氧化碳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下游应用：农作物/复合肥</a:t>
            </a:r>
            <a:endParaRPr lang="zh-CN" altLang="en-US" dirty="0">
              <a:latin typeface="+mj-ea"/>
              <a:ea typeface="+mj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95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25" y="125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  <a:r>
              <a:rPr lang="en-US" altLang="zh-CN" b="1" dirty="0"/>
              <a:t>-</a:t>
            </a:r>
            <a:r>
              <a:rPr lang="zh-CN" altLang="en-US" b="1" dirty="0"/>
              <a:t>产业链梳理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FA0571-BE14-1689-BD81-8CFB16B5C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873BE9-F66A-D240-A641-AF2C457AC2F9}"/>
              </a:ext>
            </a:extLst>
          </p:cNvPr>
          <p:cNvSpPr txBox="1"/>
          <p:nvPr/>
        </p:nvSpPr>
        <p:spPr>
          <a:xfrm>
            <a:off x="5289529" y="2933700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pic>
        <p:nvPicPr>
          <p:cNvPr id="7" name="Picture 6" descr="indus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38891103" cy="25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090C8-C70C-E125-535F-1F633AF3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产品概览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59E67827-314B-17C5-C573-1337B1EFD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962176"/>
              </p:ext>
            </p:extLst>
          </p:nvPr>
        </p:nvGraphicFramePr>
        <p:xfrm>
          <a:off x="277370" y="1953796"/>
          <a:ext cx="11637259" cy="3817181"/>
        </p:xfrm>
        <a:graphic>
          <a:graphicData uri="http://schemas.openxmlformats.org/drawingml/2006/table">
            <a:tbl>
              <a:tblPr/>
              <a:tblGrid>
                <a:gridCol w="1201270">
                  <a:extLst>
                    <a:ext uri="{9D8B030D-6E8A-4147-A177-3AD203B41FA5}">
                      <a16:colId xmlns:a16="http://schemas.microsoft.com/office/drawing/2014/main" val="40837173"/>
                    </a:ext>
                  </a:extLst>
                </a:gridCol>
                <a:gridCol w="986118">
                  <a:extLst>
                    <a:ext uri="{9D8B030D-6E8A-4147-A177-3AD203B41FA5}">
                      <a16:colId xmlns:a16="http://schemas.microsoft.com/office/drawing/2014/main" val="3086608697"/>
                    </a:ext>
                  </a:extLst>
                </a:gridCol>
                <a:gridCol w="2627195">
                  <a:extLst>
                    <a:ext uri="{9D8B030D-6E8A-4147-A177-3AD203B41FA5}">
                      <a16:colId xmlns:a16="http://schemas.microsoft.com/office/drawing/2014/main" val="1861695327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3949412276"/>
                    </a:ext>
                  </a:extLst>
                </a:gridCol>
                <a:gridCol w="1407459">
                  <a:extLst>
                    <a:ext uri="{9D8B030D-6E8A-4147-A177-3AD203B41FA5}">
                      <a16:colId xmlns:a16="http://schemas.microsoft.com/office/drawing/2014/main" val="4092957771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520432900"/>
                    </a:ext>
                  </a:extLst>
                </a:gridCol>
                <a:gridCol w="1299882">
                  <a:extLst>
                    <a:ext uri="{9D8B030D-6E8A-4147-A177-3AD203B41FA5}">
                      <a16:colId xmlns:a16="http://schemas.microsoft.com/office/drawing/2014/main" val="1009998757"/>
                    </a:ext>
                  </a:extLst>
                </a:gridCol>
                <a:gridCol w="1372135">
                  <a:extLst>
                    <a:ext uri="{9D8B030D-6E8A-4147-A177-3AD203B41FA5}">
                      <a16:colId xmlns:a16="http://schemas.microsoft.com/office/drawing/2014/main" val="2114948572"/>
                    </a:ext>
                  </a:extLst>
                </a:gridCol>
              </a:tblGrid>
              <a:tr h="18069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公司产品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成长性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产品解释与图片示例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营收占比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毛利率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营业收入（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生产模式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销售模式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06802"/>
                  </a:ext>
                </a:extLst>
              </a:tr>
              <a:tr h="2010232">
                <a:tc>
                  <a:txBody>
                    <a:bodyPr/>
                    <a:lstStyle/>
                    <a:p>
                      <a:r>
                        <a:t>煤炭产品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not found!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据公司煤矿矿种披露，公司售卖无烟煤、动力煤、焦煤。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58.14%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30.60 亿人民币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 公司煤炭销售以化工煤（无烟煤）为主，自销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自产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55605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AC17D0C-823E-076E-DD72-81900A2F1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995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0E1F2D-D1C6-FEAA-C22D-8F345071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158" y="2766218"/>
            <a:ext cx="6557683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感谢！请领导批评指正</a:t>
            </a:r>
          </a:p>
        </p:txBody>
      </p:sp>
    </p:spTree>
    <p:extLst>
      <p:ext uri="{BB962C8B-B14F-4D97-AF65-F5344CB8AC3E}">
        <p14:creationId xmlns:p14="http://schemas.microsoft.com/office/powerpoint/2010/main" val="357569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158</Words>
  <Application>Microsoft Macintosh PowerPoint</Application>
  <PresentationFormat>宽屏</PresentationFormat>
  <Paragraphs>46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name code </vt:lpstr>
      <vt:lpstr>目录     </vt:lpstr>
      <vt:lpstr>PartⅠ 公司介绍</vt:lpstr>
      <vt:lpstr>公司简介</vt:lpstr>
      <vt:lpstr>公司简介-产业链梳理</vt:lpstr>
      <vt:lpstr>产品概览</vt:lpstr>
      <vt:lpstr>感谢！请领导批评指正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特</dc:creator>
  <cp:lastModifiedBy>王　之霖</cp:lastModifiedBy>
  <cp:revision>8</cp:revision>
  <dcterms:created xsi:type="dcterms:W3CDTF">2022-07-21T01:39:38Z</dcterms:created>
  <dcterms:modified xsi:type="dcterms:W3CDTF">2022-07-27T16:02:06Z</dcterms:modified>
</cp:coreProperties>
</file>