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279" r:id="rId6"/>
    <p:sldId id="259" r:id="rId7"/>
    <p:sldId id="280" r:id="rId13"/>
    <p:sldId id="281" r:id="rId14"/>
    <p:sldId id="27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1" autoAdjust="0"/>
    <p:restoredTop sz="94771"/>
  </p:normalViewPr>
  <p:slideViewPr>
    <p:cSldViewPr snapToGrid="0">
      <p:cViewPr varScale="1">
        <p:scale>
          <a:sx n="100" d="100"/>
          <a:sy n="100" d="100"/>
        </p:scale>
        <p:origin x="172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7A80C-D1BD-F989-8C8C-6728E945D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60DD3E-A434-DF28-C4D1-97E5ABF03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BAB273-908F-B2A6-20B9-1F9D41FD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3B72EA-477B-F323-5534-F5D7E97E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9F4F2C-A265-6FF0-51AF-BD58BFDC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68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9322C-3A0B-28EB-933D-A80C7B97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A4E39-698D-192F-DDFD-D724100FC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2BC4B0-7303-D1C6-E4CC-F5BA3F0D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A572F-AD41-61E3-17E2-58A2A81B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D2072-B4A3-7913-41DC-A5A5A886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42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F3463-F377-2FEA-E40D-35A5362C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F14B78-2F31-46D9-7ADB-6FD8D37AE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88C6BE-86EB-F719-6480-02FD0CDF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E27C7-35FD-12CD-CCD6-1861C592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812066-3E52-FEDC-CC33-68C231DC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89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DAF4C-2969-78B9-CE89-ED1319D4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72251-0119-D4D8-7F9B-CDF404653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A1505C-5BC6-C3EF-6152-A2B2CBAFB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18F965-ABBF-D1ED-6374-627BCE32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19543B-20F0-53DA-6A7E-77DC4AD8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253EAA-FE47-367F-F56F-817792FE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3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27FBC-1E03-9ADC-A14C-2B8BC156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08D90-4B8E-1815-4A4B-57AF6FD21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62310F-6D5B-4E71-5CDC-2C82B5DBC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570E15-F066-7FD0-AA87-DD06F69FF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1D76AA-1518-E8CB-5D1E-454C520F8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9B935C-57F8-8443-3416-5A10FCA2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AC690A-8F2C-3455-A410-3B857D43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7DBCA-329F-3689-A0A2-BF0D9825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16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6EF73-532C-68B1-EF59-66681F6D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A96EE5-C4D5-C440-7ED7-C6C348CE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C1FD38-76D5-7553-1899-AE43E96B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DFB177-A3DC-AE84-E25B-57E549F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87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7AA8844-C2C1-C7F5-2093-295CBD52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2F3D98-EDC9-8D89-3E16-CFD28F7D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CEEFF-BE24-26EE-786D-1B30F037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560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D7F4B-20B0-6CA8-CE84-30DCD77FC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190F9-DA4E-FA57-55BD-0E57236EA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CDC4C-0375-CC39-D31A-E03E5FA9F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2D55F9-B008-391E-68A4-6E51F1EC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FF3F6A-D2A1-E1E8-292A-1B5EA04F1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8F29B9-712E-92EC-8A9A-ACB26BEF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3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80868-AFDC-D8C1-E8F6-FBE9ECF16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9E8788-8C4A-EC85-CE31-51C68477A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F972EB-633A-6FE2-A2C5-F65BD084C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2417B2-BDFE-7389-BC3E-5A33881A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6122DC-620D-AC4F-F87E-E1419962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D7495E-928E-280B-C7B2-04272683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7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5A257-DDD0-4276-871C-DCCE771C6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81F0D6-A241-3B32-3A79-9CDF7DD88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65C305-5B87-0285-F217-D701BBDA5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68C33-D68E-678F-DA7B-92FE2816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F8F9FA-31EF-81E1-E0E8-2BBFD664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69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DCF9DE-3DFD-A82C-BEE2-DA7434511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DF4628-6A9D-445B-758B-3A9D682F8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525B60-4E1F-1302-8A93-9D57ADDD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172B1B-D6B3-971C-5925-2CA7ADF1D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B1D8CC-CF0A-DD7A-46EA-F44502D3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0759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6B58C3-238A-B603-9B0B-859552D4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F44237-A4E9-DA6B-8A1B-93352F466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4494AF-91DD-1F3C-AE36-07C3D362D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A0183-56DA-48C6-8BAA-C4224C6D26AF}" type="datetimeFigureOut">
              <a:rPr lang="zh-CN" altLang="en-US" smtClean="0"/>
              <a:t>2022/7/27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0E6C9E-8012-BD2D-3F2F-AD3A88C50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03BF9D-08B9-C715-41E3-1279105D4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84DA5-49F4-4811-B172-0AED13D953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51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08EA6-37D7-3772-7679-03B13FB9A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231138"/>
            <a:ext cx="10972800" cy="1296614"/>
          </a:xfrm>
        </p:spPr>
        <p:txBody>
          <a:bodyPr>
            <a:noAutofit/>
          </a:bodyPr>
          <a:lstStyle/>
          <a:p>
            <a:r>
              <a:t>600123.SH-兰花科创</a:t>
            </a:r>
            <a:endParaRPr lang="zh-CN" altLang="en-US" sz="80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5547934-506E-59CC-1EF7-5C2B67A3B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7455"/>
            <a:ext cx="9144000" cy="1655762"/>
          </a:xfrm>
        </p:spPr>
        <p:txBody>
          <a:bodyPr/>
          <a:lstStyle/>
          <a:p>
            <a:pPr algn="r"/>
            <a:r>
              <a:t>ppt xiaodi</a:t>
            </a:r>
          </a:p>
          <a:p>
            <a:pPr algn="r"/>
            <a:r>
              <a:t>2022-07-28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124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869C9-3CB6-6D59-D733-D1084964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92396"/>
            <a:ext cx="10515600" cy="1325563"/>
          </a:xfrm>
        </p:spPr>
        <p:txBody>
          <a:bodyPr/>
          <a:lstStyle/>
          <a:p>
            <a:r>
              <a:rPr lang="zh-CN" altLang="en-US" sz="8000" b="1" dirty="0"/>
              <a:t>目录</a:t>
            </a:r>
            <a:r>
              <a:rPr lang="zh-CN" altLang="en-US" dirty="0"/>
              <a:t>   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BCBB0-BA1F-A276-BBCF-A1F4685F1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396471"/>
            <a:ext cx="6387353" cy="30511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latin typeface="+mj-ea"/>
                <a:ea typeface="+mj-ea"/>
              </a:rPr>
              <a:t>    </a:t>
            </a:r>
            <a:r>
              <a:rPr lang="zh-CN" altLang="en-US" sz="3600" dirty="0">
                <a:latin typeface="+mj-ea"/>
              </a:rPr>
              <a:t>公司介绍</a:t>
            </a:r>
            <a:endParaRPr lang="en-US" altLang="zh-CN" sz="36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latin typeface="+mj-ea"/>
              </a:rPr>
              <a:t>    中观行业介绍</a:t>
            </a:r>
            <a:endParaRPr lang="en-US" altLang="zh-CN" sz="36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latin typeface="+mj-ea"/>
              </a:rPr>
              <a:t>    财务与发展</a:t>
            </a:r>
            <a:endParaRPr lang="en-US" altLang="zh-CN" sz="3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370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25F04-D13F-DC9D-AA9B-C07F8CC8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930" y="427878"/>
            <a:ext cx="10515600" cy="1325563"/>
          </a:xfrm>
        </p:spPr>
        <p:txBody>
          <a:bodyPr/>
          <a:lstStyle/>
          <a:p>
            <a:r>
              <a:rPr lang="en-US" altLang="zh-CN" sz="8000" b="1" dirty="0"/>
              <a:t>PartⅠ </a:t>
            </a:r>
            <a:r>
              <a:rPr lang="zh-CN" altLang="en-US" dirty="0"/>
              <a:t>公司介绍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9A9D7-44B8-3E0A-B2AF-70703F015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8742" y="1935347"/>
            <a:ext cx="10515600" cy="5137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1.1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公司简介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1.2</a:t>
            </a:r>
            <a:r>
              <a:rPr lang="zh-CN" altLang="en-US" dirty="0">
                <a:latin typeface="+mj-ea"/>
                <a:ea typeface="+mj-ea"/>
              </a:rPr>
              <a:t> 产业链梳理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1.3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产品概览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b="1" dirty="0">
                <a:latin typeface="+mj-ea"/>
                <a:ea typeface="+mj-ea"/>
              </a:rPr>
              <a:t>1.4</a:t>
            </a:r>
            <a:r>
              <a:rPr lang="en-US" altLang="zh-CN" dirty="0">
                <a:latin typeface="+mj-ea"/>
                <a:ea typeface="+mj-ea"/>
              </a:rPr>
              <a:t> </a:t>
            </a:r>
            <a:r>
              <a:rPr lang="zh-CN" altLang="en-US" dirty="0">
                <a:latin typeface="+mj-ea"/>
                <a:ea typeface="+mj-ea"/>
              </a:rPr>
              <a:t>公司产品详情</a:t>
            </a:r>
            <a:endParaRPr lang="en-US" altLang="zh-CN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dirty="0">
                <a:latin typeface="+mj-ea"/>
                <a:ea typeface="+mj-ea"/>
              </a:rPr>
              <a:t>      </a:t>
            </a:r>
            <a:r>
              <a:rPr lang="en-US" altLang="zh-CN" sz="2400" dirty="0">
                <a:latin typeface="+mj-ea"/>
                <a:ea typeface="+mj-ea"/>
              </a:rPr>
              <a:t>1.4.1 </a:t>
            </a:r>
            <a:r>
              <a:rPr lang="zh-CN" altLang="en-US" sz="2400" dirty="0">
                <a:latin typeface="+mj-ea"/>
                <a:ea typeface="+mj-ea"/>
              </a:rPr>
              <a:t>历史经营数据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1.4.2 </a:t>
            </a:r>
            <a:r>
              <a:rPr lang="zh-CN" altLang="en-US" sz="2400" dirty="0">
                <a:latin typeface="+mj-ea"/>
                <a:ea typeface="+mj-ea"/>
              </a:rPr>
              <a:t>产能及扩产难度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1.4.3 </a:t>
            </a:r>
            <a:r>
              <a:rPr lang="zh-CN" altLang="en-US" sz="2400" dirty="0">
                <a:latin typeface="+mj-ea"/>
                <a:ea typeface="+mj-ea"/>
              </a:rPr>
              <a:t>生产区域与销售区域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1.4.4 </a:t>
            </a:r>
            <a:r>
              <a:rPr lang="zh-CN" altLang="en-US" sz="2400" dirty="0">
                <a:latin typeface="+mj-ea"/>
                <a:ea typeface="+mj-ea"/>
              </a:rPr>
              <a:t>原材料情况</a:t>
            </a:r>
            <a:endParaRPr lang="en-US" altLang="zh-CN" sz="2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j-ea"/>
                <a:ea typeface="+mj-ea"/>
              </a:rPr>
              <a:t>       1.4 5 </a:t>
            </a:r>
            <a:r>
              <a:rPr lang="zh-CN" altLang="en-US" sz="2400" dirty="0">
                <a:latin typeface="+mj-ea"/>
                <a:ea typeface="+mj-ea"/>
              </a:rPr>
              <a:t>产品价格及议价权分析</a:t>
            </a:r>
            <a:endParaRPr lang="en-US" altLang="zh-CN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1799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6CB1C-19CE-AC53-E820-EF36E009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47" y="284443"/>
            <a:ext cx="10515600" cy="1325563"/>
          </a:xfrm>
        </p:spPr>
        <p:txBody>
          <a:bodyPr/>
          <a:lstStyle/>
          <a:p>
            <a:r>
              <a:rPr lang="zh-CN" altLang="en-US" b="1" dirty="0"/>
              <a:t>公司简介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FCC70E8-2B0C-B5FB-DD8B-4DE0A4E02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547" y="1691154"/>
            <a:ext cx="11326906" cy="43958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2400"/>
              </a:spcBef>
            </a:pPr>
            <a:r>
              <a:t>兰花科创是一家以炼焦煤（无烟煤）的开采、销售为主，尿素，二甲醚等化肥，化工产品为辅的综合公司。</a:t>
            </a:r>
            <a:endParaRPr lang="zh-CN" altLang="en-US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t>所属产业链：煤炭</a:t>
            </a:r>
            <a:endParaRPr lang="zh-CN" altLang="en-US" dirty="0">
              <a:effectLst/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t>上游原材料：甲醇/纯苯/液氨/液氮/二氧化碳</a:t>
            </a:r>
            <a:endParaRPr lang="zh-CN" altLang="en-US" dirty="0"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t>下游应用：农作物/复合肥</a:t>
            </a:r>
            <a:endParaRPr lang="zh-CN" altLang="en-US" dirty="0">
              <a:latin typeface="+mj-ea"/>
              <a:ea typeface="+mj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950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6CB1C-19CE-AC53-E820-EF36E009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25" y="1253"/>
            <a:ext cx="10515600" cy="1325563"/>
          </a:xfrm>
        </p:spPr>
        <p:txBody>
          <a:bodyPr/>
          <a:lstStyle/>
          <a:p>
            <a:r>
              <a:rPr lang="zh-CN" altLang="en-US" b="1" dirty="0"/>
              <a:t>公司简介</a:t>
            </a:r>
            <a:r>
              <a:rPr lang="en-US" altLang="zh-CN" b="1" dirty="0"/>
              <a:t>-</a:t>
            </a:r>
            <a:r>
              <a:rPr lang="zh-CN" altLang="en-US" b="1" dirty="0"/>
              <a:t>产业链梳理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6FA0571-BE14-1689-BD81-8CFB16B5C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0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873BE9-F66A-D240-A641-AF2C457AC2F9}"/>
              </a:ext>
            </a:extLst>
          </p:cNvPr>
          <p:cNvSpPr txBox="1"/>
          <p:nvPr/>
        </p:nvSpPr>
        <p:spPr>
          <a:xfrm>
            <a:off x="5289529" y="2933700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  <p:pic>
        <p:nvPicPr>
          <p:cNvPr id="7" name="Picture 6" descr="indust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8333808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86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090C8-C70C-E125-535F-1F633AF34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产品概览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59E67827-314B-17C5-C573-1337B1EFD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879536"/>
              </p:ext>
            </p:extLst>
          </p:nvPr>
        </p:nvGraphicFramePr>
        <p:xfrm>
          <a:off x="277370" y="1356896"/>
          <a:ext cx="11637259" cy="3304004"/>
        </p:xfrm>
        <a:graphic>
          <a:graphicData uri="http://schemas.openxmlformats.org/drawingml/2006/table">
            <a:tbl>
              <a:tblPr/>
              <a:tblGrid>
                <a:gridCol w="1201270">
                  <a:extLst>
                    <a:ext uri="{9D8B030D-6E8A-4147-A177-3AD203B41FA5}">
                      <a16:colId xmlns:a16="http://schemas.microsoft.com/office/drawing/2014/main" val="40837173"/>
                    </a:ext>
                  </a:extLst>
                </a:gridCol>
                <a:gridCol w="986118">
                  <a:extLst>
                    <a:ext uri="{9D8B030D-6E8A-4147-A177-3AD203B41FA5}">
                      <a16:colId xmlns:a16="http://schemas.microsoft.com/office/drawing/2014/main" val="3086608697"/>
                    </a:ext>
                  </a:extLst>
                </a:gridCol>
                <a:gridCol w="2627195">
                  <a:extLst>
                    <a:ext uri="{9D8B030D-6E8A-4147-A177-3AD203B41FA5}">
                      <a16:colId xmlns:a16="http://schemas.microsoft.com/office/drawing/2014/main" val="1861695327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3949412276"/>
                    </a:ext>
                  </a:extLst>
                </a:gridCol>
                <a:gridCol w="1407459">
                  <a:extLst>
                    <a:ext uri="{9D8B030D-6E8A-4147-A177-3AD203B41FA5}">
                      <a16:colId xmlns:a16="http://schemas.microsoft.com/office/drawing/2014/main" val="4092957771"/>
                    </a:ext>
                  </a:extLst>
                </a:gridCol>
                <a:gridCol w="1308847">
                  <a:extLst>
                    <a:ext uri="{9D8B030D-6E8A-4147-A177-3AD203B41FA5}">
                      <a16:colId xmlns:a16="http://schemas.microsoft.com/office/drawing/2014/main" val="2520432900"/>
                    </a:ext>
                  </a:extLst>
                </a:gridCol>
                <a:gridCol w="1299882">
                  <a:extLst>
                    <a:ext uri="{9D8B030D-6E8A-4147-A177-3AD203B41FA5}">
                      <a16:colId xmlns:a16="http://schemas.microsoft.com/office/drawing/2014/main" val="1009998757"/>
                    </a:ext>
                  </a:extLst>
                </a:gridCol>
                <a:gridCol w="1372135">
                  <a:extLst>
                    <a:ext uri="{9D8B030D-6E8A-4147-A177-3AD203B41FA5}">
                      <a16:colId xmlns:a16="http://schemas.microsoft.com/office/drawing/2014/main" val="2114948572"/>
                    </a:ext>
                  </a:extLst>
                </a:gridCol>
              </a:tblGrid>
              <a:tr h="18069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公司产品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成长性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产品解释与图片示例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营收占比</a:t>
                      </a:r>
                      <a:endParaRPr lang="en-US" altLang="zh-CN" sz="2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（</a:t>
                      </a:r>
                      <a:r>
                        <a:rPr lang="en-US" altLang="zh-CN" sz="2000" b="1" dirty="0">
                          <a:effectLst/>
                        </a:rPr>
                        <a:t>2021</a:t>
                      </a:r>
                      <a:r>
                        <a:rPr lang="zh-CN" altLang="en-US" sz="2000" b="1" dirty="0">
                          <a:effectLst/>
                        </a:rPr>
                        <a:t>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毛利率</a:t>
                      </a:r>
                      <a:endParaRPr lang="en-US" altLang="zh-CN" sz="2000" b="1" dirty="0">
                        <a:effectLst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（</a:t>
                      </a:r>
                      <a:r>
                        <a:rPr lang="en-US" altLang="zh-CN" sz="2000" b="1" dirty="0">
                          <a:effectLst/>
                        </a:rPr>
                        <a:t>2021</a:t>
                      </a:r>
                      <a:r>
                        <a:rPr lang="zh-CN" altLang="en-US" sz="2000" b="1" dirty="0">
                          <a:effectLst/>
                        </a:rPr>
                        <a:t>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营业收入（</a:t>
                      </a:r>
                      <a:r>
                        <a:rPr lang="en-US" altLang="zh-CN" sz="2000" b="1" dirty="0">
                          <a:effectLst/>
                        </a:rPr>
                        <a:t>2021</a:t>
                      </a:r>
                      <a:r>
                        <a:rPr lang="zh-CN" altLang="en-US" sz="2000" b="1" dirty="0">
                          <a:effectLst/>
                        </a:rPr>
                        <a:t>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生产模式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effectLst/>
                        </a:rPr>
                        <a:t>销售模式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606802"/>
                  </a:ext>
                </a:extLst>
              </a:tr>
              <a:tr h="1497055">
                <a:tc>
                  <a:txBody>
                    <a:bodyPr/>
                    <a:lstStyle/>
                    <a:p>
                      <a:r>
                        <a:t>炼焦煤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not found!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据公司煤矿矿种披露，公司售卖无烟煤、动力煤、焦煤。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58.14%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58.2%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30.60 亿人民币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 公司煤炭销售以化工煤（无烟煤）为主，自销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自产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556054"/>
                  </a:ext>
                </a:extLst>
              </a:tr>
              <a:tr h="1497055">
                <a:tc>
                  <a:txBody>
                    <a:bodyPr/>
                    <a:lstStyle/>
                    <a:p>
                      <a:r>
                        <a:t>尿素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not found!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氮肥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25.29%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9.05 亿人民币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556054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8AC17D0C-823E-076E-DD72-81900A2F1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995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6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60E1F2D-D1C6-FEAA-C22D-8F345071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158" y="2766218"/>
            <a:ext cx="6557683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感谢！请领导批评指正</a:t>
            </a:r>
          </a:p>
        </p:txBody>
      </p:sp>
    </p:spTree>
    <p:extLst>
      <p:ext uri="{BB962C8B-B14F-4D97-AF65-F5344CB8AC3E}">
        <p14:creationId xmlns:p14="http://schemas.microsoft.com/office/powerpoint/2010/main" val="357569329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产品产能信息1-炼焦煤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现有各类矿井 14 个，年设计能力 2020 万吨。其中生产矿井 8 个(新建玉溪煤矿 240 万吨/年矿 井于 2021 年 1 月取得安全生产许可证，2021 年 3 月完成生产要素公告，正式转入生产矿井，望云、伯方、唐安、大阳、宝欣、口前、永胜)，年煤炭生产能力 1200 万吨;参股 41%的亚美大宁年生产能力 400 万吨;在建资源整合 矿井 5 个，设计年生产能力 420 万吨。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产品产能信息2-尿素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现有尿素生产企业 3 个(含煤化工公司、田悦分公司、化工分公司;阳化分公司已整体关停)，年尿素产能约 100 万吨。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156</Words>
  <Application>Microsoft Macintosh PowerPoint</Application>
  <PresentationFormat>宽屏</PresentationFormat>
  <Paragraphs>44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name code</vt:lpstr>
      <vt:lpstr>目录     </vt:lpstr>
      <vt:lpstr>PartⅠ 公司介绍</vt:lpstr>
      <vt:lpstr>公司简介</vt:lpstr>
      <vt:lpstr>公司简介-产业链梳理</vt:lpstr>
      <vt:lpstr>产品概览</vt:lpstr>
      <vt:lpstr>感谢！请领导批评指正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 特</dc:creator>
  <cp:lastModifiedBy>王　之霖</cp:lastModifiedBy>
  <cp:revision>10</cp:revision>
  <dcterms:created xsi:type="dcterms:W3CDTF">2022-07-21T01:39:38Z</dcterms:created>
  <dcterms:modified xsi:type="dcterms:W3CDTF">2022-07-27T19:40:56Z</dcterms:modified>
</cp:coreProperties>
</file>