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8" r:id="rId3"/>
    <p:sldId id="257" r:id="rId4"/>
    <p:sldId id="258" r:id="rId5"/>
    <p:sldId id="279" r:id="rId6"/>
    <p:sldId id="259" r:id="rId7"/>
    <p:sldId id="277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浅色样式 1 - 强调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A488322-F2BA-4B5B-9748-0D474271808F}" styleName="中度样式 3 - 强调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浅色样式 2 - 强调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6D9F66E-5EB9-4882-86FB-DCBF35E3C3E4}" styleName="中度样式 4 - 强调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01" autoAdjust="0"/>
    <p:restoredTop sz="94771"/>
  </p:normalViewPr>
  <p:slideViewPr>
    <p:cSldViewPr snapToGrid="0">
      <p:cViewPr varScale="1">
        <p:scale>
          <a:sx n="100" d="100"/>
          <a:sy n="100" d="100"/>
        </p:scale>
        <p:origin x="1728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97A80C-D1BD-F989-8C8C-6728E945DD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060DD3E-A434-DF28-C4D1-97E5ABF034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BAB273-908F-B2A6-20B9-1F9D41FDC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A0183-56DA-48C6-8BAA-C4224C6D26AF}" type="datetimeFigureOut">
              <a:rPr lang="zh-CN" altLang="en-US" smtClean="0"/>
              <a:t>2022/7/27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F3B72EA-477B-F323-5534-F5D7E97E6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39F4F2C-A265-6FF0-51AF-BD58BFDCA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84DA5-49F4-4811-B172-0AED13D953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86836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F9322C-3A0B-28EB-933D-A80C7B97F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3CA4E39-698D-192F-DDFD-D724100FC4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02BC4B0-7303-D1C6-E4CC-F5BA3F0D4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A0183-56DA-48C6-8BAA-C4224C6D26AF}" type="datetimeFigureOut">
              <a:rPr lang="zh-CN" altLang="en-US" smtClean="0"/>
              <a:t>2022/7/27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7CA572F-AD41-61E3-17E2-58A2A81BC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2CD2072-B4A3-7913-41DC-A5A5A886E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84DA5-49F4-4811-B172-0AED13D953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44298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4F3463-F377-2FEA-E40D-35A5362C3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AF14B78-2F31-46D9-7ADB-6FD8D37AE9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188C6BE-86EB-F719-6480-02FD0CDF7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A0183-56DA-48C6-8BAA-C4224C6D26AF}" type="datetimeFigureOut">
              <a:rPr lang="zh-CN" altLang="en-US" smtClean="0"/>
              <a:t>2022/7/27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18E27C7-35FD-12CD-CCD6-1861C5922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2812066-3E52-FEDC-CC33-68C231DCF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84DA5-49F4-4811-B172-0AED13D953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58930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0DAF4C-2969-78B9-CE89-ED1319D4A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FF72251-0119-D4D8-7F9B-CDF4046537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BA1505C-5BC6-C3EF-6152-A2B2CBAFBD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B18F965-ABBF-D1ED-6374-627BCE32D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A0183-56DA-48C6-8BAA-C4224C6D26AF}" type="datetimeFigureOut">
              <a:rPr lang="zh-CN" altLang="en-US" smtClean="0"/>
              <a:t>2022/7/27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919543B-20F0-53DA-6A7E-77DC4AD80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1253EAA-FE47-367F-F56F-817792FEE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84DA5-49F4-4811-B172-0AED13D953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5379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727FBC-1E03-9ADC-A14C-2B8BC156F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1C08D90-4B8E-1815-4A4B-57AF6FD21B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862310F-6D5B-4E71-5CDC-2C82B5DBCF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E570E15-F066-7FD0-AA87-DD06F69FF5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11D76AA-1518-E8CB-5D1E-454C520F8E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09B935C-57F8-8443-3416-5A10FCA2B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A0183-56DA-48C6-8BAA-C4224C6D26AF}" type="datetimeFigureOut">
              <a:rPr lang="zh-CN" altLang="en-US" smtClean="0"/>
              <a:t>2022/7/27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5AC690A-8F2C-3455-A410-3B857D438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927DBCA-329F-3689-A0A2-BF0D9825B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84DA5-49F4-4811-B172-0AED13D953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71632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06EF73-532C-68B1-EF59-66681F6DE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5A96EE5-C4D5-C440-7ED7-C6C348CE5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A0183-56DA-48C6-8BAA-C4224C6D26AF}" type="datetimeFigureOut">
              <a:rPr lang="zh-CN" altLang="en-US" smtClean="0"/>
              <a:t>2022/7/27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5C1FD38-76D5-7553-1899-AE43E96BB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9DFB177-A3DC-AE84-E25B-57E549F3B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84DA5-49F4-4811-B172-0AED13D953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7874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7AA8844-C2C1-C7F5-2093-295CBD522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A0183-56DA-48C6-8BAA-C4224C6D26AF}" type="datetimeFigureOut">
              <a:rPr lang="zh-CN" altLang="en-US" smtClean="0"/>
              <a:t>2022/7/27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F2F3D98-EDC9-8D89-3E16-CFD28F7DD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31CEEFF-BE24-26EE-786D-1B30F0379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84DA5-49F4-4811-B172-0AED13D953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0560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8D7F4B-20B0-6CA8-CE84-30DCD77FC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8C190F9-DA4E-FA57-55BD-0E57236EA9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38CDC4C-0375-CC39-D31A-E03E5FA9F7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72D55F9-B008-391E-68A4-6E51F1EC8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A0183-56DA-48C6-8BAA-C4224C6D26AF}" type="datetimeFigureOut">
              <a:rPr lang="zh-CN" altLang="en-US" smtClean="0"/>
              <a:t>2022/7/27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1FF3F6A-D2A1-E1E8-292A-1B5EA04F1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78F29B9-712E-92EC-8A9A-ACB26BEFF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84DA5-49F4-4811-B172-0AED13D953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4322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C80868-AFDC-D8C1-E8F6-FBE9ECF16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E9E8788-8C4A-EC85-CE31-51C68477A3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3F972EB-633A-6FE2-A2C5-F65BD084C1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02417B2-BDFE-7389-BC3E-5A33881AB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A0183-56DA-48C6-8BAA-C4224C6D26AF}" type="datetimeFigureOut">
              <a:rPr lang="zh-CN" altLang="en-US" smtClean="0"/>
              <a:t>2022/7/27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A6122DC-620D-AC4F-F87E-E14199625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CD7495E-928E-280B-C7B2-042726839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84DA5-49F4-4811-B172-0AED13D953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50792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55A257-DDD0-4276-871C-DCCE771C6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781F0D6-A241-3B32-3A79-9CDF7DD88C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765C305-5B87-0285-F217-D701BBDA5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A0183-56DA-48C6-8BAA-C4224C6D26AF}" type="datetimeFigureOut">
              <a:rPr lang="zh-CN" altLang="en-US" smtClean="0"/>
              <a:t>2022/7/27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6768C33-D68E-678F-DA7B-92FE28169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DF8F9FA-31EF-81E1-E0E8-2BBFD6646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84DA5-49F4-4811-B172-0AED13D953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56930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4DCF9DE-3DFD-A82C-BEE2-DA74345118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2DF4628-6A9D-445B-758B-3A9D682F86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8525B60-4E1F-1302-8A93-9D57ADDD9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A0183-56DA-48C6-8BAA-C4224C6D26AF}" type="datetimeFigureOut">
              <a:rPr lang="zh-CN" altLang="en-US" smtClean="0"/>
              <a:t>2022/7/27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172B1B-D6B3-971C-5925-2CA7ADF1D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8B1D8CC-CF0A-DD7A-46EA-F44502D38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84DA5-49F4-4811-B172-0AED13D953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6075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C6B58C3-238A-B603-9B0B-859552D45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DF44237-A4E9-DA6B-8A1B-93352F4661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B4494AF-91DD-1F3C-AE36-07C3D362D8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3A0183-56DA-48C6-8BAA-C4224C6D26AF}" type="datetimeFigureOut">
              <a:rPr lang="zh-CN" altLang="en-US" smtClean="0"/>
              <a:t>2022/7/27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30E6C9E-8012-BD2D-3F2F-AD3A88C50A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903BF9D-08B9-C715-41E3-1279105D49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884DA5-49F4-4811-B172-0AED13D953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85122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F08EA6-37D7-3772-7679-03B13FB9AC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2231138"/>
            <a:ext cx="10972800" cy="1296614"/>
          </a:xfrm>
        </p:spPr>
        <p:txBody>
          <a:bodyPr>
            <a:noAutofit/>
          </a:bodyPr>
          <a:lstStyle/>
          <a:p>
            <a:r>
              <a:rPr lang="en-US" altLang="zh-CN" sz="8000" b="1" dirty="0"/>
              <a:t>name</a:t>
            </a:r>
            <a:r>
              <a:rPr lang="zh-CN" altLang="en-US" sz="8000" b="1" dirty="0"/>
              <a:t> </a:t>
            </a:r>
            <a:r>
              <a:rPr lang="en-US" altLang="zh-CN" sz="8000" b="1" dirty="0"/>
              <a:t>code</a:t>
            </a:r>
            <a:endParaRPr lang="zh-CN" altLang="en-US" sz="8000" dirty="0"/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65547934-506E-59CC-1EF7-5C2B67A3B7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67455"/>
            <a:ext cx="9144000" cy="1655762"/>
          </a:xfrm>
        </p:spPr>
        <p:txBody>
          <a:bodyPr/>
          <a:lstStyle/>
          <a:p>
            <a:pPr algn="r"/>
            <a:r>
              <a:rPr lang="en-US" altLang="zh-CN" dirty="0"/>
              <a:t>Author</a:t>
            </a:r>
          </a:p>
          <a:p>
            <a:pPr algn="r"/>
            <a:r>
              <a:rPr lang="en-US" altLang="zh-CN" dirty="0"/>
              <a:t>Date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912459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C869C9-3CB6-6D59-D733-D1084964C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792396"/>
            <a:ext cx="10515600" cy="1325563"/>
          </a:xfrm>
        </p:spPr>
        <p:txBody>
          <a:bodyPr/>
          <a:lstStyle/>
          <a:p>
            <a:r>
              <a:rPr lang="zh-CN" altLang="en-US" sz="8000" b="1" dirty="0"/>
              <a:t>目录</a:t>
            </a:r>
            <a:r>
              <a:rPr lang="zh-CN" altLang="en-US" dirty="0"/>
              <a:t>     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4BCBB0-BA1F-A276-BBCF-A1F4685F12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2396471"/>
            <a:ext cx="6387353" cy="305117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3600" dirty="0">
                <a:latin typeface="+mj-ea"/>
                <a:ea typeface="+mj-ea"/>
              </a:rPr>
              <a:t>    </a:t>
            </a:r>
            <a:r>
              <a:rPr lang="zh-CN" altLang="en-US" sz="3600" dirty="0">
                <a:latin typeface="+mj-ea"/>
              </a:rPr>
              <a:t>公司介绍</a:t>
            </a:r>
            <a:endParaRPr lang="en-US" altLang="zh-CN" sz="3600" dirty="0">
              <a:latin typeface="+mj-ea"/>
            </a:endParaRPr>
          </a:p>
          <a:p>
            <a:pPr>
              <a:lnSpc>
                <a:spcPct val="150000"/>
              </a:lnSpc>
            </a:pPr>
            <a:r>
              <a:rPr lang="zh-CN" altLang="en-US" sz="3600" dirty="0">
                <a:latin typeface="+mj-ea"/>
              </a:rPr>
              <a:t>    中观行业介绍</a:t>
            </a:r>
            <a:endParaRPr lang="en-US" altLang="zh-CN" sz="3600" dirty="0">
              <a:latin typeface="+mj-ea"/>
            </a:endParaRPr>
          </a:p>
          <a:p>
            <a:pPr>
              <a:lnSpc>
                <a:spcPct val="150000"/>
              </a:lnSpc>
            </a:pPr>
            <a:r>
              <a:rPr lang="zh-CN" altLang="en-US" sz="3600" dirty="0">
                <a:latin typeface="+mj-ea"/>
              </a:rPr>
              <a:t>    财务与发展</a:t>
            </a:r>
            <a:endParaRPr lang="en-US" altLang="zh-CN" sz="36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0937003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625F04-D13F-DC9D-AA9B-C07F8CC86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0930" y="427878"/>
            <a:ext cx="10515600" cy="1325563"/>
          </a:xfrm>
        </p:spPr>
        <p:txBody>
          <a:bodyPr/>
          <a:lstStyle/>
          <a:p>
            <a:r>
              <a:rPr lang="en-US" altLang="zh-CN" sz="8000" b="1" dirty="0"/>
              <a:t>PartⅠ </a:t>
            </a:r>
            <a:r>
              <a:rPr lang="zh-CN" altLang="en-US" dirty="0"/>
              <a:t>公司介绍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A39A9D7-44B8-3E0A-B2AF-70703F015E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8742" y="1935347"/>
            <a:ext cx="10515600" cy="51378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b="1" dirty="0">
                <a:latin typeface="+mj-ea"/>
                <a:ea typeface="+mj-ea"/>
              </a:rPr>
              <a:t>1.1</a:t>
            </a:r>
            <a:r>
              <a:rPr lang="en-US" altLang="zh-CN" dirty="0">
                <a:latin typeface="+mj-ea"/>
                <a:ea typeface="+mj-ea"/>
              </a:rPr>
              <a:t> </a:t>
            </a:r>
            <a:r>
              <a:rPr lang="zh-CN" altLang="en-US" dirty="0">
                <a:latin typeface="+mj-ea"/>
                <a:ea typeface="+mj-ea"/>
              </a:rPr>
              <a:t>公司简介</a:t>
            </a:r>
            <a:endParaRPr lang="en-US" altLang="zh-CN" dirty="0">
              <a:latin typeface="+mj-ea"/>
              <a:ea typeface="+mj-ea"/>
            </a:endParaRPr>
          </a:p>
          <a:p>
            <a:pPr marL="0" indent="0">
              <a:buNone/>
            </a:pPr>
            <a:r>
              <a:rPr lang="en-US" altLang="zh-CN" b="1" dirty="0">
                <a:latin typeface="+mj-ea"/>
                <a:ea typeface="+mj-ea"/>
              </a:rPr>
              <a:t>1.2</a:t>
            </a:r>
            <a:r>
              <a:rPr lang="zh-CN" altLang="en-US" dirty="0">
                <a:latin typeface="+mj-ea"/>
                <a:ea typeface="+mj-ea"/>
              </a:rPr>
              <a:t> 产业链梳理</a:t>
            </a:r>
            <a:endParaRPr lang="en-US" altLang="zh-CN" dirty="0">
              <a:latin typeface="+mj-ea"/>
              <a:ea typeface="+mj-ea"/>
            </a:endParaRPr>
          </a:p>
          <a:p>
            <a:pPr marL="0" indent="0">
              <a:buNone/>
            </a:pPr>
            <a:r>
              <a:rPr lang="en-US" altLang="zh-CN" b="1" dirty="0">
                <a:latin typeface="+mj-ea"/>
                <a:ea typeface="+mj-ea"/>
              </a:rPr>
              <a:t>1.3</a:t>
            </a:r>
            <a:r>
              <a:rPr lang="en-US" altLang="zh-CN" dirty="0">
                <a:latin typeface="+mj-ea"/>
                <a:ea typeface="+mj-ea"/>
              </a:rPr>
              <a:t> </a:t>
            </a:r>
            <a:r>
              <a:rPr lang="zh-CN" altLang="en-US" dirty="0">
                <a:latin typeface="+mj-ea"/>
                <a:ea typeface="+mj-ea"/>
              </a:rPr>
              <a:t>产品概览</a:t>
            </a:r>
            <a:endParaRPr lang="en-US" altLang="zh-CN" dirty="0">
              <a:latin typeface="+mj-ea"/>
              <a:ea typeface="+mj-ea"/>
            </a:endParaRPr>
          </a:p>
          <a:p>
            <a:pPr marL="0" indent="0">
              <a:buNone/>
            </a:pPr>
            <a:r>
              <a:rPr lang="en-US" altLang="zh-CN" b="1" dirty="0">
                <a:latin typeface="+mj-ea"/>
                <a:ea typeface="+mj-ea"/>
              </a:rPr>
              <a:t>1.4</a:t>
            </a:r>
            <a:r>
              <a:rPr lang="en-US" altLang="zh-CN" dirty="0">
                <a:latin typeface="+mj-ea"/>
                <a:ea typeface="+mj-ea"/>
              </a:rPr>
              <a:t> </a:t>
            </a:r>
            <a:r>
              <a:rPr lang="zh-CN" altLang="en-US" dirty="0">
                <a:latin typeface="+mj-ea"/>
                <a:ea typeface="+mj-ea"/>
              </a:rPr>
              <a:t>公司产品详情</a:t>
            </a:r>
            <a:endParaRPr lang="en-US" altLang="zh-CN" dirty="0">
              <a:latin typeface="+mj-ea"/>
              <a:ea typeface="+mj-ea"/>
            </a:endParaRPr>
          </a:p>
          <a:p>
            <a:pPr marL="0" indent="0">
              <a:buNone/>
            </a:pPr>
            <a:r>
              <a:rPr lang="en-US" altLang="zh-CN" dirty="0">
                <a:latin typeface="+mj-ea"/>
                <a:ea typeface="+mj-ea"/>
              </a:rPr>
              <a:t>      </a:t>
            </a:r>
            <a:r>
              <a:rPr lang="en-US" altLang="zh-CN" sz="2400" dirty="0">
                <a:latin typeface="+mj-ea"/>
                <a:ea typeface="+mj-ea"/>
              </a:rPr>
              <a:t>1.4.1 </a:t>
            </a:r>
            <a:r>
              <a:rPr lang="zh-CN" altLang="en-US" sz="2400" dirty="0">
                <a:latin typeface="+mj-ea"/>
                <a:ea typeface="+mj-ea"/>
              </a:rPr>
              <a:t>历史经营数据</a:t>
            </a:r>
            <a:endParaRPr lang="en-US" altLang="zh-CN" sz="2400" dirty="0">
              <a:latin typeface="+mj-ea"/>
              <a:ea typeface="+mj-ea"/>
            </a:endParaRPr>
          </a:p>
          <a:p>
            <a:pPr marL="0" indent="0">
              <a:buNone/>
            </a:pPr>
            <a:r>
              <a:rPr lang="en-US" altLang="zh-CN" sz="2400" dirty="0">
                <a:latin typeface="+mj-ea"/>
                <a:ea typeface="+mj-ea"/>
              </a:rPr>
              <a:t>       1.4.2 </a:t>
            </a:r>
            <a:r>
              <a:rPr lang="zh-CN" altLang="en-US" sz="2400" dirty="0">
                <a:latin typeface="+mj-ea"/>
                <a:ea typeface="+mj-ea"/>
              </a:rPr>
              <a:t>产能及扩产难度</a:t>
            </a:r>
            <a:endParaRPr lang="en-US" altLang="zh-CN" sz="2400" dirty="0">
              <a:latin typeface="+mj-ea"/>
              <a:ea typeface="+mj-ea"/>
            </a:endParaRPr>
          </a:p>
          <a:p>
            <a:pPr marL="0" indent="0">
              <a:buNone/>
            </a:pPr>
            <a:r>
              <a:rPr lang="en-US" altLang="zh-CN" sz="2400" dirty="0">
                <a:latin typeface="+mj-ea"/>
                <a:ea typeface="+mj-ea"/>
              </a:rPr>
              <a:t>       1.4.3 </a:t>
            </a:r>
            <a:r>
              <a:rPr lang="zh-CN" altLang="en-US" sz="2400" dirty="0">
                <a:latin typeface="+mj-ea"/>
                <a:ea typeface="+mj-ea"/>
              </a:rPr>
              <a:t>生产区域与销售区域</a:t>
            </a:r>
            <a:endParaRPr lang="en-US" altLang="zh-CN" sz="2400" dirty="0">
              <a:latin typeface="+mj-ea"/>
              <a:ea typeface="+mj-ea"/>
            </a:endParaRPr>
          </a:p>
          <a:p>
            <a:pPr marL="0" indent="0">
              <a:buNone/>
            </a:pPr>
            <a:r>
              <a:rPr lang="en-US" altLang="zh-CN" sz="2400" dirty="0">
                <a:latin typeface="+mj-ea"/>
                <a:ea typeface="+mj-ea"/>
              </a:rPr>
              <a:t>       1.4.4 </a:t>
            </a:r>
            <a:r>
              <a:rPr lang="zh-CN" altLang="en-US" sz="2400" dirty="0">
                <a:latin typeface="+mj-ea"/>
                <a:ea typeface="+mj-ea"/>
              </a:rPr>
              <a:t>原材料情况</a:t>
            </a:r>
            <a:endParaRPr lang="en-US" altLang="zh-CN" sz="2400" dirty="0">
              <a:latin typeface="+mj-ea"/>
              <a:ea typeface="+mj-ea"/>
            </a:endParaRPr>
          </a:p>
          <a:p>
            <a:pPr marL="0" indent="0">
              <a:buNone/>
            </a:pPr>
            <a:r>
              <a:rPr lang="en-US" altLang="zh-CN" sz="2400" dirty="0">
                <a:latin typeface="+mj-ea"/>
                <a:ea typeface="+mj-ea"/>
              </a:rPr>
              <a:t>       1.4 5 </a:t>
            </a:r>
            <a:r>
              <a:rPr lang="zh-CN" altLang="en-US" sz="2400" dirty="0">
                <a:latin typeface="+mj-ea"/>
                <a:ea typeface="+mj-ea"/>
              </a:rPr>
              <a:t>产品价格及议价权分析</a:t>
            </a:r>
            <a:endParaRPr lang="en-US" altLang="zh-CN" sz="24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417995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86CB1C-19CE-AC53-E820-EF36E0090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547" y="284443"/>
            <a:ext cx="10515600" cy="1325563"/>
          </a:xfrm>
        </p:spPr>
        <p:txBody>
          <a:bodyPr/>
          <a:lstStyle/>
          <a:p>
            <a:r>
              <a:rPr lang="zh-CN" altLang="en-US" b="1" dirty="0"/>
              <a:t>公司简介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DFCC70E8-2B0C-B5FB-DD8B-4DE0A4E026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547" y="1691154"/>
            <a:ext cx="11326906" cy="439588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2400"/>
              </a:spcBef>
            </a:pPr>
            <a:r>
              <a:rPr lang="zh-CN" altLang="en-US" b="1" dirty="0">
                <a:latin typeface="+mj-ea"/>
                <a:ea typeface="+mj-ea"/>
              </a:rPr>
              <a:t>一句话介绍：</a:t>
            </a:r>
            <a:r>
              <a:rPr lang="en-US" altLang="zh-CN" dirty="0">
                <a:latin typeface="+mj-ea"/>
                <a:ea typeface="+mj-ea"/>
              </a:rPr>
              <a:t>summary</a:t>
            </a:r>
            <a:endParaRPr lang="zh-CN" altLang="en-US" dirty="0">
              <a:latin typeface="+mj-ea"/>
              <a:ea typeface="+mj-ea"/>
            </a:endParaRPr>
          </a:p>
          <a:p>
            <a:pPr algn="l">
              <a:lnSpc>
                <a:spcPct val="150000"/>
              </a:lnSpc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zh-CN" altLang="en-US" b="1" dirty="0">
                <a:effectLst/>
                <a:latin typeface="+mj-ea"/>
                <a:ea typeface="+mj-ea"/>
              </a:rPr>
              <a:t>所属产业链</a:t>
            </a:r>
            <a:r>
              <a:rPr lang="zh-CN" altLang="en-US" dirty="0">
                <a:effectLst/>
                <a:latin typeface="+mj-ea"/>
                <a:ea typeface="+mj-ea"/>
              </a:rPr>
              <a:t>：</a:t>
            </a:r>
            <a:r>
              <a:rPr lang="en-US" altLang="zh-CN" dirty="0">
                <a:effectLst/>
                <a:latin typeface="+mj-ea"/>
                <a:ea typeface="+mj-ea"/>
              </a:rPr>
              <a:t>industry</a:t>
            </a:r>
            <a:endParaRPr lang="zh-CN" altLang="en-US" dirty="0">
              <a:effectLst/>
              <a:latin typeface="+mj-ea"/>
              <a:ea typeface="+mj-ea"/>
            </a:endParaRPr>
          </a:p>
          <a:p>
            <a:pPr algn="l">
              <a:lnSpc>
                <a:spcPct val="150000"/>
              </a:lnSpc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zh-CN" altLang="en-US" b="1" dirty="0">
                <a:effectLst/>
                <a:latin typeface="+mj-ea"/>
                <a:ea typeface="+mj-ea"/>
              </a:rPr>
              <a:t>上游原材料：</a:t>
            </a:r>
            <a:r>
              <a:rPr lang="en-US" altLang="zh-CN" dirty="0" err="1">
                <a:latin typeface="+mj-ea"/>
                <a:ea typeface="+mj-ea"/>
              </a:rPr>
              <a:t>raw_material</a:t>
            </a:r>
            <a:endParaRPr lang="zh-CN" altLang="en-US" dirty="0">
              <a:latin typeface="+mj-ea"/>
              <a:ea typeface="+mj-ea"/>
            </a:endParaRPr>
          </a:p>
          <a:p>
            <a:pPr algn="l">
              <a:lnSpc>
                <a:spcPct val="150000"/>
              </a:lnSpc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zh-CN" altLang="en-US" b="1" dirty="0">
                <a:effectLst/>
                <a:latin typeface="+mj-ea"/>
                <a:ea typeface="+mj-ea"/>
              </a:rPr>
              <a:t>下游应用：</a:t>
            </a:r>
            <a:r>
              <a:rPr lang="en-US" altLang="zh-CN" dirty="0">
                <a:latin typeface="+mj-ea"/>
                <a:ea typeface="+mj-ea"/>
              </a:rPr>
              <a:t>downstream</a:t>
            </a:r>
            <a:endParaRPr lang="zh-CN" altLang="en-US" dirty="0">
              <a:latin typeface="+mj-ea"/>
              <a:ea typeface="+mj-ea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979509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86CB1C-19CE-AC53-E820-EF36E0090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425" y="1253"/>
            <a:ext cx="10515600" cy="1325563"/>
          </a:xfrm>
        </p:spPr>
        <p:txBody>
          <a:bodyPr/>
          <a:lstStyle/>
          <a:p>
            <a:r>
              <a:rPr lang="zh-CN" altLang="en-US" b="1" dirty="0"/>
              <a:t>公司简介</a:t>
            </a:r>
            <a:r>
              <a:rPr lang="en-US" altLang="zh-CN" b="1" dirty="0"/>
              <a:t>-</a:t>
            </a:r>
            <a:r>
              <a:rPr lang="zh-CN" altLang="en-US" b="1" dirty="0"/>
              <a:t>产业链梳理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86FA0571-BE14-1689-BD81-8CFB16B5CF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400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E873BE9-F66A-D240-A641-AF2C457AC2F9}"/>
              </a:ext>
            </a:extLst>
          </p:cNvPr>
          <p:cNvSpPr txBox="1"/>
          <p:nvPr/>
        </p:nvSpPr>
        <p:spPr>
          <a:xfrm>
            <a:off x="5289529" y="2933700"/>
            <a:ext cx="16129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industy_image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993860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1090C8-C70C-E125-535F-1F633AF34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产品概览</a:t>
            </a:r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59E67827-314B-17C5-C573-1337B1EFD1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42879536"/>
              </p:ext>
            </p:extLst>
          </p:nvPr>
        </p:nvGraphicFramePr>
        <p:xfrm>
          <a:off x="277370" y="1356896"/>
          <a:ext cx="11637259" cy="3304004"/>
        </p:xfrm>
        <a:graphic>
          <a:graphicData uri="http://schemas.openxmlformats.org/drawingml/2006/table">
            <a:tbl>
              <a:tblPr/>
              <a:tblGrid>
                <a:gridCol w="1201270">
                  <a:extLst>
                    <a:ext uri="{9D8B030D-6E8A-4147-A177-3AD203B41FA5}">
                      <a16:colId xmlns:a16="http://schemas.microsoft.com/office/drawing/2014/main" val="40837173"/>
                    </a:ext>
                  </a:extLst>
                </a:gridCol>
                <a:gridCol w="986118">
                  <a:extLst>
                    <a:ext uri="{9D8B030D-6E8A-4147-A177-3AD203B41FA5}">
                      <a16:colId xmlns:a16="http://schemas.microsoft.com/office/drawing/2014/main" val="3086608697"/>
                    </a:ext>
                  </a:extLst>
                </a:gridCol>
                <a:gridCol w="2627195">
                  <a:extLst>
                    <a:ext uri="{9D8B030D-6E8A-4147-A177-3AD203B41FA5}">
                      <a16:colId xmlns:a16="http://schemas.microsoft.com/office/drawing/2014/main" val="1861695327"/>
                    </a:ext>
                  </a:extLst>
                </a:gridCol>
                <a:gridCol w="1434353">
                  <a:extLst>
                    <a:ext uri="{9D8B030D-6E8A-4147-A177-3AD203B41FA5}">
                      <a16:colId xmlns:a16="http://schemas.microsoft.com/office/drawing/2014/main" val="3949412276"/>
                    </a:ext>
                  </a:extLst>
                </a:gridCol>
                <a:gridCol w="1407459">
                  <a:extLst>
                    <a:ext uri="{9D8B030D-6E8A-4147-A177-3AD203B41FA5}">
                      <a16:colId xmlns:a16="http://schemas.microsoft.com/office/drawing/2014/main" val="4092957771"/>
                    </a:ext>
                  </a:extLst>
                </a:gridCol>
                <a:gridCol w="1308847">
                  <a:extLst>
                    <a:ext uri="{9D8B030D-6E8A-4147-A177-3AD203B41FA5}">
                      <a16:colId xmlns:a16="http://schemas.microsoft.com/office/drawing/2014/main" val="2520432900"/>
                    </a:ext>
                  </a:extLst>
                </a:gridCol>
                <a:gridCol w="1299882">
                  <a:extLst>
                    <a:ext uri="{9D8B030D-6E8A-4147-A177-3AD203B41FA5}">
                      <a16:colId xmlns:a16="http://schemas.microsoft.com/office/drawing/2014/main" val="1009998757"/>
                    </a:ext>
                  </a:extLst>
                </a:gridCol>
                <a:gridCol w="1372135">
                  <a:extLst>
                    <a:ext uri="{9D8B030D-6E8A-4147-A177-3AD203B41FA5}">
                      <a16:colId xmlns:a16="http://schemas.microsoft.com/office/drawing/2014/main" val="2114948572"/>
                    </a:ext>
                  </a:extLst>
                </a:gridCol>
              </a:tblGrid>
              <a:tr h="180694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effectLst/>
                        </a:rPr>
                        <a:t>公司产品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effectLst/>
                        </a:rPr>
                        <a:t>成长性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effectLst/>
                        </a:rPr>
                        <a:t>产品解释与图片示例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effectLst/>
                        </a:rPr>
                        <a:t>营收占比</a:t>
                      </a:r>
                      <a:endParaRPr lang="en-US" altLang="zh-CN" sz="2000" b="1" dirty="0">
                        <a:effectLst/>
                      </a:endParaRPr>
                    </a:p>
                    <a:p>
                      <a:pPr algn="ctr"/>
                      <a:r>
                        <a:rPr lang="zh-CN" altLang="en-US" sz="2000" b="1" dirty="0">
                          <a:effectLst/>
                        </a:rPr>
                        <a:t>（</a:t>
                      </a:r>
                      <a:r>
                        <a:rPr lang="en-US" altLang="zh-CN" sz="2000" b="1" dirty="0">
                          <a:effectLst/>
                        </a:rPr>
                        <a:t>2021</a:t>
                      </a:r>
                      <a:r>
                        <a:rPr lang="zh-CN" altLang="en-US" sz="2000" b="1" dirty="0">
                          <a:effectLst/>
                        </a:rPr>
                        <a:t>年）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effectLst/>
                        </a:rPr>
                        <a:t>毛利率</a:t>
                      </a:r>
                      <a:endParaRPr lang="en-US" altLang="zh-CN" sz="2000" b="1" dirty="0">
                        <a:effectLst/>
                      </a:endParaRPr>
                    </a:p>
                    <a:p>
                      <a:pPr algn="ctr"/>
                      <a:r>
                        <a:rPr lang="zh-CN" altLang="en-US" sz="2000" b="1" dirty="0">
                          <a:effectLst/>
                        </a:rPr>
                        <a:t>（</a:t>
                      </a:r>
                      <a:r>
                        <a:rPr lang="en-US" altLang="zh-CN" sz="2000" b="1" dirty="0">
                          <a:effectLst/>
                        </a:rPr>
                        <a:t>2021</a:t>
                      </a:r>
                      <a:r>
                        <a:rPr lang="zh-CN" altLang="en-US" sz="2000" b="1" dirty="0">
                          <a:effectLst/>
                        </a:rPr>
                        <a:t>年）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effectLst/>
                        </a:rPr>
                        <a:t>营业收入（</a:t>
                      </a:r>
                      <a:r>
                        <a:rPr lang="en-US" altLang="zh-CN" sz="2000" b="1" dirty="0">
                          <a:effectLst/>
                        </a:rPr>
                        <a:t>2021</a:t>
                      </a:r>
                      <a:r>
                        <a:rPr lang="zh-CN" altLang="en-US" sz="2000" b="1" dirty="0">
                          <a:effectLst/>
                        </a:rPr>
                        <a:t>年）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effectLst/>
                        </a:rPr>
                        <a:t>生产模式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effectLst/>
                        </a:rPr>
                        <a:t>销售模式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6606802"/>
                  </a:ext>
                </a:extLst>
              </a:tr>
              <a:tr h="14970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err="1">
                          <a:effectLst/>
                        </a:rPr>
                        <a:t>product_name</a:t>
                      </a:r>
                      <a:endParaRPr lang="zh-CN" altLang="en-US" sz="200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CN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growth</a:t>
                      </a:r>
                      <a:endParaRPr lang="zh-CN" altLang="en-US" sz="200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dirty="0" err="1">
                          <a:effectLst/>
                        </a:rPr>
                        <a:t>product_summary</a:t>
                      </a:r>
                      <a:endParaRPr lang="en-US" altLang="zh-CN" sz="200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err="1">
                          <a:effectLst/>
                        </a:rPr>
                        <a:t>sale_ratio</a:t>
                      </a:r>
                      <a:endParaRPr lang="en-US" altLang="zh-CN" sz="200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err="1">
                          <a:effectLst/>
                        </a:rPr>
                        <a:t>gross_profit</a:t>
                      </a:r>
                      <a:endParaRPr lang="en-US" altLang="zh-CN" sz="200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" altLang="zh-CN" sz="2000" dirty="0" err="1">
                          <a:effectLst/>
                        </a:rPr>
                        <a:t>sale_value</a:t>
                      </a:r>
                      <a:endParaRPr lang="en" altLang="zh-CN" sz="200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" altLang="zh-CN" sz="2000" dirty="0" err="1">
                          <a:effectLst/>
                        </a:rPr>
                        <a:t>sale_pattern</a:t>
                      </a:r>
                      <a:endParaRPr lang="en" altLang="zh-CN" sz="200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" dirty="0" err="1"/>
                        <a:t>product_pattern</a:t>
                      </a:r>
                      <a:endParaRPr lang="e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0556054"/>
                  </a:ext>
                </a:extLst>
              </a:tr>
            </a:tbl>
          </a:graphicData>
        </a:graphic>
      </p:graphicFrame>
      <p:sp>
        <p:nvSpPr>
          <p:cNvPr id="5" name="Rectangle 2">
            <a:extLst>
              <a:ext uri="{FF2B5EF4-FFF2-40B4-BE49-F238E27FC236}">
                <a16:creationId xmlns:a16="http://schemas.microsoft.com/office/drawing/2014/main" id="{8AC17D0C-823E-076E-DD72-81900A2F16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4750" y="299561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0667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560E1F2D-D1C6-FEAA-C22D-8F3450711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7158" y="2766218"/>
            <a:ext cx="6557683" cy="1325563"/>
          </a:xfrm>
        </p:spPr>
        <p:txBody>
          <a:bodyPr>
            <a:normAutofit/>
          </a:bodyPr>
          <a:lstStyle/>
          <a:p>
            <a:r>
              <a:rPr lang="zh-CN" altLang="en-US" dirty="0"/>
              <a:t>感谢！请领导批评指正</a:t>
            </a:r>
          </a:p>
        </p:txBody>
      </p:sp>
    </p:spTree>
    <p:extLst>
      <p:ext uri="{BB962C8B-B14F-4D97-AF65-F5344CB8AC3E}">
        <p14:creationId xmlns:p14="http://schemas.microsoft.com/office/powerpoint/2010/main" val="35756932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2416</TotalTime>
  <Words>156</Words>
  <Application>Microsoft Macintosh PowerPoint</Application>
  <PresentationFormat>宽屏</PresentationFormat>
  <Paragraphs>44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1" baseType="lpstr">
      <vt:lpstr>等线</vt:lpstr>
      <vt:lpstr>等线 Light</vt:lpstr>
      <vt:lpstr>Arial</vt:lpstr>
      <vt:lpstr>Office 主题​​</vt:lpstr>
      <vt:lpstr>name code</vt:lpstr>
      <vt:lpstr>目录     </vt:lpstr>
      <vt:lpstr>PartⅠ 公司介绍</vt:lpstr>
      <vt:lpstr>公司简介</vt:lpstr>
      <vt:lpstr>公司简介-产业链梳理</vt:lpstr>
      <vt:lpstr>产品概览</vt:lpstr>
      <vt:lpstr>感谢！请领导批评指正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马 特</dc:creator>
  <cp:lastModifiedBy>王　之霖</cp:lastModifiedBy>
  <cp:revision>10</cp:revision>
  <dcterms:created xsi:type="dcterms:W3CDTF">2022-07-21T01:39:38Z</dcterms:created>
  <dcterms:modified xsi:type="dcterms:W3CDTF">2022-07-27T19:40:56Z</dcterms:modified>
</cp:coreProperties>
</file>